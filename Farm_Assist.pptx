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notesMasterIdLst>
    <p:notesMasterId r:id="rId8"/>
  </p:notesMasterIdLst>
  <p:sldIdLst>
    <p:sldId id="256" r:id="rId2"/>
    <p:sldId id="257" r:id="rId3"/>
    <p:sldId id="258" r:id="rId4"/>
    <p:sldId id="259" r:id="rId5"/>
    <p:sldId id="262"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5837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extLst>
      <p:ext uri="{BB962C8B-B14F-4D97-AF65-F5344CB8AC3E}">
        <p14:creationId xmlns:p14="http://schemas.microsoft.com/office/powerpoint/2010/main" val="1402434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0564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extLst>
      <p:ext uri="{BB962C8B-B14F-4D97-AF65-F5344CB8AC3E}">
        <p14:creationId xmlns:p14="http://schemas.microsoft.com/office/powerpoint/2010/main" val="2114701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7553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9130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97993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1160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98937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94160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047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6753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0948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41201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0042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2107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8395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7445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7/31/2026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0779660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3-1">
            <a:extLst>
              <a:ext uri="{FF2B5EF4-FFF2-40B4-BE49-F238E27FC236}">
                <a16:creationId xmlns:a16="http://schemas.microsoft.com/office/drawing/2014/main" id="{8CC6B26F-7714-4BA9-BEA7-555413468740}"/>
              </a:ext>
            </a:extLst>
          </p:cNvPr>
          <p:cNvSpPr>
            <a:spLocks noGrp="1"/>
          </p:cNvSpPr>
          <p:nvPr/>
        </p:nvSpPr>
        <p:spPr>
          <a:xfrm>
            <a:off x="4090219" y="1765398"/>
            <a:ext cx="4965291" cy="1080230"/>
          </a:xfrm>
          <a:prstGeom prst="rect">
            <a:avLst/>
          </a:prstGeom>
        </p:spPr>
        <p:txBody>
          <a:bodyPr lIns="0" tIns="0" rIns="0" bIns="0" anchor="b">
            <a:noAutofit/>
          </a:bodyPr>
          <a:lstStyle/>
          <a:p>
            <a:pPr algn="l">
              <a:defRPr sz="6000">
                <a:solidFill>
                  <a:srgbClr val="000000"/>
                </a:solidFill>
                <a:latin typeface="Helvetica Neue"/>
                <a:ea typeface="Helvetica Neue"/>
                <a:cs typeface="Helvetica Neue"/>
              </a:defRPr>
            </a:pPr>
            <a:r>
              <a:rPr dirty="0"/>
              <a:t>Farm</a:t>
            </a:r>
            <a:r>
              <a:rPr lang="en-US" dirty="0"/>
              <a:t> </a:t>
            </a:r>
            <a:r>
              <a:rPr dirty="0"/>
              <a:t>Assist</a:t>
            </a:r>
          </a:p>
        </p:txBody>
      </p:sp>
      <p:sp>
        <p:nvSpPr>
          <p:cNvPr id="2" name="Subtitle-4-2">
            <a:extLst>
              <a:ext uri="{FF2B5EF4-FFF2-40B4-BE49-F238E27FC236}">
                <a16:creationId xmlns:a16="http://schemas.microsoft.com/office/drawing/2014/main" id="{C651D039-F461-4DA2-ABFB-440DF11264C2}"/>
              </a:ext>
            </a:extLst>
          </p:cNvPr>
          <p:cNvSpPr>
            <a:spLocks noGrp="1"/>
          </p:cNvSpPr>
          <p:nvPr/>
        </p:nvSpPr>
        <p:spPr>
          <a:xfrm>
            <a:off x="393668" y="4742212"/>
            <a:ext cx="5702332" cy="1080230"/>
          </a:xfrm>
          <a:prstGeom prst="rect">
            <a:avLst/>
          </a:prstGeom>
        </p:spPr>
        <p:txBody>
          <a:bodyPr lIns="0" tIns="0" rIns="0" bIns="0">
            <a:noAutofit/>
          </a:bodyPr>
          <a:lstStyle/>
          <a:p>
            <a:pPr algn="l">
              <a:defRPr sz="2400">
                <a:solidFill>
                  <a:srgbClr val="000000"/>
                </a:solidFill>
                <a:latin typeface="Helvetica Neue"/>
                <a:ea typeface="Helvetica Neue"/>
                <a:cs typeface="Helvetica Neue"/>
              </a:defRPr>
            </a:pPr>
            <a:endParaRPr dirty="0"/>
          </a:p>
        </p:txBody>
      </p:sp>
      <p:sp>
        <p:nvSpPr>
          <p:cNvPr id="3" name="Subtitle-4-3">
            <a:extLst>
              <a:ext uri="{FF2B5EF4-FFF2-40B4-BE49-F238E27FC236}">
                <a16:creationId xmlns:a16="http://schemas.microsoft.com/office/drawing/2014/main" id="{3BEE5D97-7796-45BA-95FD-BF0B189B9055}"/>
              </a:ext>
            </a:extLst>
          </p:cNvPr>
          <p:cNvSpPr>
            <a:spLocks noGrp="1"/>
          </p:cNvSpPr>
          <p:nvPr/>
        </p:nvSpPr>
        <p:spPr>
          <a:xfrm>
            <a:off x="393668" y="392240"/>
            <a:ext cx="5702332" cy="649129"/>
          </a:xfrm>
          <a:prstGeom prst="rect">
            <a:avLst/>
          </a:prstGeom>
        </p:spPr>
        <p:txBody>
          <a:bodyPr lIns="0" tIns="0" rIns="0" bIns="0">
            <a:noAutofit/>
          </a:bodyPr>
          <a:lstStyle/>
          <a:p>
            <a:pPr algn="l">
              <a:defRPr sz="2400">
                <a:solidFill>
                  <a:srgbClr val="000000"/>
                </a:solidFill>
                <a:latin typeface="Helvetica Neue"/>
                <a:ea typeface="Helvetica Neue"/>
                <a:cs typeface="Helvetica Neue"/>
              </a:defRPr>
            </a:pPr>
            <a:endParaRPr dirty="0"/>
          </a:p>
        </p:txBody>
      </p:sp>
      <p:pic>
        <p:nvPicPr>
          <p:cNvPr id="5" name="Picture 4" descr="Our Team - KLH Bachupally">
            <a:extLst>
              <a:ext uri="{FF2B5EF4-FFF2-40B4-BE49-F238E27FC236}">
                <a16:creationId xmlns:a16="http://schemas.microsoft.com/office/drawing/2014/main" id="{92E8EE96-2A5C-BE70-F7B9-82B382370CBB}"/>
              </a:ext>
            </a:extLst>
          </p:cNvPr>
          <p:cNvPicPr>
            <a:picLocks noChangeAspect="1"/>
          </p:cNvPicPr>
          <p:nvPr/>
        </p:nvPicPr>
        <p:blipFill>
          <a:blip r:embed="rId3"/>
          <a:stretch>
            <a:fillRect/>
          </a:stretch>
        </p:blipFill>
        <p:spPr>
          <a:xfrm>
            <a:off x="752167" y="733337"/>
            <a:ext cx="2659626" cy="1382451"/>
          </a:xfrm>
          <a:prstGeom prst="rect">
            <a:avLst/>
          </a:prstGeom>
        </p:spPr>
      </p:pic>
      <p:sp>
        <p:nvSpPr>
          <p:cNvPr id="6" name="TextBox 5">
            <a:extLst>
              <a:ext uri="{FF2B5EF4-FFF2-40B4-BE49-F238E27FC236}">
                <a16:creationId xmlns:a16="http://schemas.microsoft.com/office/drawing/2014/main" id="{952A3847-F1F8-3B94-BDEA-E162286EDC63}"/>
              </a:ext>
            </a:extLst>
          </p:cNvPr>
          <p:cNvSpPr txBox="1"/>
          <p:nvPr/>
        </p:nvSpPr>
        <p:spPr>
          <a:xfrm>
            <a:off x="4635910" y="4121430"/>
            <a:ext cx="4021394" cy="923330"/>
          </a:xfrm>
          <a:prstGeom prst="rect">
            <a:avLst/>
          </a:prstGeom>
          <a:noFill/>
        </p:spPr>
        <p:txBody>
          <a:bodyPr wrap="square" rtlCol="0">
            <a:spAutoFit/>
          </a:bodyPr>
          <a:lstStyle/>
          <a:p>
            <a:r>
              <a:rPr lang="en-IN" b="1" dirty="0"/>
              <a:t>2520030603 – Mundru Siri Chandana</a:t>
            </a:r>
          </a:p>
          <a:p>
            <a:r>
              <a:rPr lang="en-IN" b="1" dirty="0"/>
              <a:t>2520030300 – </a:t>
            </a:r>
            <a:r>
              <a:rPr lang="en-IN" b="1" dirty="0" err="1"/>
              <a:t>Gongati</a:t>
            </a:r>
            <a:r>
              <a:rPr lang="en-IN" b="1" dirty="0"/>
              <a:t> Nandini</a:t>
            </a:r>
          </a:p>
          <a:p>
            <a:r>
              <a:rPr lang="en-IN" b="1" dirty="0"/>
              <a:t>2520030074 – K. Bhargavi</a:t>
            </a:r>
          </a:p>
        </p:txBody>
      </p:sp>
      <p:sp>
        <p:nvSpPr>
          <p:cNvPr id="7" name="TextBox 6">
            <a:extLst>
              <a:ext uri="{FF2B5EF4-FFF2-40B4-BE49-F238E27FC236}">
                <a16:creationId xmlns:a16="http://schemas.microsoft.com/office/drawing/2014/main" id="{4243B248-5DAD-C2F5-59CE-7D006A8C8190}"/>
              </a:ext>
            </a:extLst>
          </p:cNvPr>
          <p:cNvSpPr txBox="1"/>
          <p:nvPr/>
        </p:nvSpPr>
        <p:spPr>
          <a:xfrm>
            <a:off x="5235678" y="3236906"/>
            <a:ext cx="1956618" cy="861774"/>
          </a:xfrm>
          <a:prstGeom prst="rect">
            <a:avLst/>
          </a:prstGeom>
          <a:noFill/>
        </p:spPr>
        <p:txBody>
          <a:bodyPr wrap="square" rtlCol="0">
            <a:spAutoFit/>
          </a:bodyPr>
          <a:lstStyle/>
          <a:p>
            <a:r>
              <a:rPr lang="en-IN" b="1" dirty="0"/>
              <a:t> </a:t>
            </a:r>
            <a:r>
              <a:rPr lang="en-IN" sz="3200" b="1" dirty="0"/>
              <a:t>Sec – 2    </a:t>
            </a:r>
            <a:endParaRPr lang="en-IN" b="1" dirty="0"/>
          </a:p>
          <a:p>
            <a:endParaRPr lang="en-IN" b="1" dirty="0"/>
          </a:p>
        </p:txBody>
      </p:sp>
    </p:spTree>
    <p:extLst>
      <p:ext uri="{BB962C8B-B14F-4D97-AF65-F5344CB8AC3E}">
        <p14:creationId xmlns:p14="http://schemas.microsoft.com/office/powerpoint/2010/main" val="2130316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Rectangle-5-1">
            <a:extLst>
              <a:ext uri="{FF2B5EF4-FFF2-40B4-BE49-F238E27FC236}">
                <a16:creationId xmlns:a16="http://schemas.microsoft.com/office/drawing/2014/main" id="{6B11F4B3-9F23-4495-ACDD-95C6354788F6}"/>
              </a:ext>
            </a:extLst>
          </p:cNvPr>
          <p:cNvSpPr>
            <a:spLocks noGrp="1"/>
          </p:cNvSpPr>
          <p:nvPr/>
        </p:nvSpPr>
        <p:spPr>
          <a:xfrm>
            <a:off x="892366" y="3283026"/>
            <a:ext cx="3365880" cy="2732739"/>
          </a:xfrm>
          <a:prstGeom prst="roundRect">
            <a:avLst>
              <a:gd name="adj" fmla="val 22514"/>
            </a:avLst>
          </a:prstGeom>
          <a:solidFill>
            <a:schemeClr val="accent6">
              <a:lumMod val="20000"/>
              <a:lumOff val="80000"/>
            </a:schemeClr>
          </a:solidFill>
        </p:spPr>
      </p:sp>
      <p:sp>
        <p:nvSpPr>
          <p:cNvPr id="2" name="Rounded-Rectangle-6-2">
            <a:extLst>
              <a:ext uri="{FF2B5EF4-FFF2-40B4-BE49-F238E27FC236}">
                <a16:creationId xmlns:a16="http://schemas.microsoft.com/office/drawing/2014/main" id="{2731822C-F659-4A9B-BF21-623F9D6C84AD}"/>
              </a:ext>
            </a:extLst>
          </p:cNvPr>
          <p:cNvSpPr>
            <a:spLocks noGrp="1"/>
          </p:cNvSpPr>
          <p:nvPr/>
        </p:nvSpPr>
        <p:spPr>
          <a:xfrm>
            <a:off x="4353973" y="3245960"/>
            <a:ext cx="3568732" cy="2732738"/>
          </a:xfrm>
          <a:prstGeom prst="roundRect">
            <a:avLst>
              <a:gd name="adj" fmla="val 28493"/>
            </a:avLst>
          </a:prstGeom>
          <a:solidFill>
            <a:schemeClr val="accent6">
              <a:lumMod val="20000"/>
              <a:lumOff val="80000"/>
            </a:schemeClr>
          </a:solidFill>
        </p:spPr>
      </p:sp>
      <p:sp>
        <p:nvSpPr>
          <p:cNvPr id="3" name="Rounded-Rectangle-7-3">
            <a:extLst>
              <a:ext uri="{FF2B5EF4-FFF2-40B4-BE49-F238E27FC236}">
                <a16:creationId xmlns:a16="http://schemas.microsoft.com/office/drawing/2014/main" id="{D98A5DDB-4B86-4F72-A42C-E9DDD41602AC}"/>
              </a:ext>
            </a:extLst>
          </p:cNvPr>
          <p:cNvSpPr>
            <a:spLocks noGrp="1"/>
          </p:cNvSpPr>
          <p:nvPr/>
        </p:nvSpPr>
        <p:spPr>
          <a:xfrm>
            <a:off x="8018432" y="3288749"/>
            <a:ext cx="3393554" cy="2689949"/>
          </a:xfrm>
          <a:prstGeom prst="roundRect">
            <a:avLst>
              <a:gd name="adj" fmla="val 28008"/>
            </a:avLst>
          </a:prstGeom>
          <a:solidFill>
            <a:schemeClr val="accent6">
              <a:lumMod val="20000"/>
              <a:lumOff val="80000"/>
            </a:schemeClr>
          </a:solidFill>
        </p:spPr>
        <p:txBody>
          <a:bodyPr/>
          <a:lstStyle/>
          <a:p>
            <a:endParaRPr lang="en-IN" dirty="0"/>
          </a:p>
        </p:txBody>
      </p:sp>
      <p:sp>
        <p:nvSpPr>
          <p:cNvPr id="4" name="Slide-Number-Placeholder-1-4">
            <a:extLst>
              <a:ext uri="{FF2B5EF4-FFF2-40B4-BE49-F238E27FC236}">
                <a16:creationId xmlns:a16="http://schemas.microsoft.com/office/drawing/2014/main" id="{1B37DE7D-35E7-4CDF-90B0-C49C010BE772}"/>
              </a:ext>
            </a:extLst>
          </p:cNvPr>
          <p:cNvSpPr>
            <a:spLocks noGrp="1"/>
          </p:cNvSpPr>
          <p:nvPr/>
        </p:nvSpPr>
        <p:spPr>
          <a:xfrm>
            <a:off x="11279315" y="6279261"/>
            <a:ext cx="518922"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2</a:t>
            </a:r>
          </a:p>
        </p:txBody>
      </p:sp>
      <p:sp>
        <p:nvSpPr>
          <p:cNvPr id="5" name="Title-2-5">
            <a:extLst>
              <a:ext uri="{FF2B5EF4-FFF2-40B4-BE49-F238E27FC236}">
                <a16:creationId xmlns:a16="http://schemas.microsoft.com/office/drawing/2014/main" id="{B1E088E1-906F-48EC-8CBD-8D1E296F620F}"/>
              </a:ext>
            </a:extLst>
          </p:cNvPr>
          <p:cNvSpPr>
            <a:spLocks noGrp="1"/>
          </p:cNvSpPr>
          <p:nvPr/>
        </p:nvSpPr>
        <p:spPr>
          <a:xfrm>
            <a:off x="3071749" y="1138237"/>
            <a:ext cx="8207566" cy="752529"/>
          </a:xfrm>
          <a:prstGeom prst="rect">
            <a:avLst/>
          </a:prstGeom>
        </p:spPr>
        <p:txBody>
          <a:bodyPr lIns="0" tIns="0" rIns="0" bIns="0" anchor="t">
            <a:normAutofit/>
          </a:bodyPr>
          <a:lstStyle/>
          <a:p>
            <a:pPr algn="l">
              <a:defRPr sz="2900">
                <a:solidFill>
                  <a:srgbClr val="000000"/>
                </a:solidFill>
                <a:latin typeface="Helvetica Neue"/>
                <a:ea typeface="Helvetica Neue"/>
                <a:cs typeface="Helvetica Neue"/>
              </a:defRPr>
            </a:pPr>
            <a:endParaRPr dirty="0"/>
          </a:p>
        </p:txBody>
      </p:sp>
      <p:sp>
        <p:nvSpPr>
          <p:cNvPr id="6" name="Content-Placeholder-9-6">
            <a:extLst>
              <a:ext uri="{FF2B5EF4-FFF2-40B4-BE49-F238E27FC236}">
                <a16:creationId xmlns:a16="http://schemas.microsoft.com/office/drawing/2014/main" id="{889624E0-05F7-4A9F-BBCD-159598763CB8}"/>
              </a:ext>
            </a:extLst>
          </p:cNvPr>
          <p:cNvSpPr>
            <a:spLocks noGrp="1"/>
          </p:cNvSpPr>
          <p:nvPr/>
        </p:nvSpPr>
        <p:spPr>
          <a:xfrm>
            <a:off x="1207293" y="4298989"/>
            <a:ext cx="2949607" cy="819150"/>
          </a:xfrm>
          <a:prstGeom prst="rect">
            <a:avLst/>
          </a:prstGeom>
        </p:spPr>
        <p:txBody>
          <a:bodyPr lIns="91440" tIns="45720" rIns="91440" bIns="45720">
            <a:normAutofit fontScale="77564" lnSpcReduction="10000"/>
          </a:bodyPr>
          <a:lstStyle/>
          <a:p>
            <a:pPr algn="l">
              <a:defRPr sz="2400">
                <a:solidFill>
                  <a:srgbClr val="000000"/>
                </a:solidFill>
                <a:latin typeface="Helvetica Neue"/>
                <a:ea typeface="Helvetica Neue"/>
                <a:cs typeface="Helvetica Neue"/>
              </a:defRPr>
            </a:pPr>
            <a:r>
              <a:rPr dirty="0"/>
              <a:t>Growth stages, seasonal needs, and care tips</a:t>
            </a:r>
          </a:p>
        </p:txBody>
      </p:sp>
      <p:sp>
        <p:nvSpPr>
          <p:cNvPr id="7" name="Content-Placeholder-10-7">
            <a:extLst>
              <a:ext uri="{FF2B5EF4-FFF2-40B4-BE49-F238E27FC236}">
                <a16:creationId xmlns:a16="http://schemas.microsoft.com/office/drawing/2014/main" id="{7BE24DFF-50C5-45BE-83F5-5875781EA689}"/>
              </a:ext>
            </a:extLst>
          </p:cNvPr>
          <p:cNvSpPr>
            <a:spLocks noGrp="1"/>
          </p:cNvSpPr>
          <p:nvPr/>
        </p:nvSpPr>
        <p:spPr>
          <a:xfrm>
            <a:off x="8511608" y="4126943"/>
            <a:ext cx="2949607" cy="819150"/>
          </a:xfrm>
          <a:prstGeom prst="rect">
            <a:avLst/>
          </a:prstGeom>
        </p:spPr>
        <p:txBody>
          <a:bodyPr lIns="91440" tIns="45720" rIns="91440" bIns="45720">
            <a:normAutofit fontScale="77177" lnSpcReduction="20000"/>
          </a:bodyPr>
          <a:lstStyle/>
          <a:p>
            <a:pPr algn="l">
              <a:defRPr sz="2400">
                <a:solidFill>
                  <a:srgbClr val="000000"/>
                </a:solidFill>
                <a:latin typeface="Helvetica Neue"/>
                <a:ea typeface="Helvetica Neue"/>
                <a:cs typeface="Helvetica Neue"/>
              </a:defRPr>
            </a:pPr>
            <a:r>
              <a:rPr dirty="0"/>
              <a:t>Nutrient information and suitable application advice</a:t>
            </a:r>
          </a:p>
        </p:txBody>
      </p:sp>
      <p:sp>
        <p:nvSpPr>
          <p:cNvPr id="8" name="Content-Placeholder-11-8">
            <a:extLst>
              <a:ext uri="{FF2B5EF4-FFF2-40B4-BE49-F238E27FC236}">
                <a16:creationId xmlns:a16="http://schemas.microsoft.com/office/drawing/2014/main" id="{2480D227-0422-4509-A7FE-E7BAA6F3C08A}"/>
              </a:ext>
            </a:extLst>
          </p:cNvPr>
          <p:cNvSpPr>
            <a:spLocks noGrp="1"/>
          </p:cNvSpPr>
          <p:nvPr/>
        </p:nvSpPr>
        <p:spPr>
          <a:xfrm>
            <a:off x="4942876" y="4298989"/>
            <a:ext cx="2949607" cy="819150"/>
          </a:xfrm>
          <a:prstGeom prst="rect">
            <a:avLst/>
          </a:prstGeom>
        </p:spPr>
        <p:txBody>
          <a:bodyPr lIns="91440" tIns="45720" rIns="91440" bIns="45720">
            <a:normAutofit fontScale="79620" lnSpcReduction="20000"/>
          </a:bodyPr>
          <a:lstStyle/>
          <a:p>
            <a:pPr algn="l">
              <a:defRPr sz="2400">
                <a:solidFill>
                  <a:srgbClr val="000000"/>
                </a:solidFill>
                <a:latin typeface="Helvetica Neue"/>
                <a:ea typeface="Helvetica Neue"/>
                <a:cs typeface="Helvetica Neue"/>
              </a:defRPr>
            </a:pPr>
            <a:r>
              <a:rPr dirty="0"/>
              <a:t>Symptoms, causes, prevention, and basic treatment guidance</a:t>
            </a:r>
          </a:p>
        </p:txBody>
      </p:sp>
      <p:sp>
        <p:nvSpPr>
          <p:cNvPr id="9" name="Content-Placeholder-9-9">
            <a:extLst>
              <a:ext uri="{FF2B5EF4-FFF2-40B4-BE49-F238E27FC236}">
                <a16:creationId xmlns:a16="http://schemas.microsoft.com/office/drawing/2014/main" id="{A1586C34-2498-4A60-9157-FC73250BE706}"/>
              </a:ext>
            </a:extLst>
          </p:cNvPr>
          <p:cNvSpPr>
            <a:spLocks noGrp="1"/>
          </p:cNvSpPr>
          <p:nvPr/>
        </p:nvSpPr>
        <p:spPr>
          <a:xfrm>
            <a:off x="2057449" y="2484763"/>
            <a:ext cx="2940082" cy="1359313"/>
          </a:xfrm>
          <a:prstGeom prst="rect">
            <a:avLst/>
          </a:prstGeom>
        </p:spPr>
        <p:txBody>
          <a:bodyPr lIns="0" tIns="0" rIns="0" bIns="0" anchor="b">
            <a:normAutofit/>
          </a:bodyPr>
          <a:lstStyle/>
          <a:p>
            <a:pPr algn="l">
              <a:defRPr sz="2400">
                <a:solidFill>
                  <a:srgbClr val="000000"/>
                </a:solidFill>
                <a:latin typeface="Helvetica Neue"/>
                <a:ea typeface="Helvetica Neue"/>
                <a:cs typeface="Helvetica Neue"/>
              </a:defRPr>
            </a:pPr>
            <a:r>
              <a:rPr dirty="0"/>
              <a:t>Crops</a:t>
            </a:r>
          </a:p>
        </p:txBody>
      </p:sp>
      <p:sp>
        <p:nvSpPr>
          <p:cNvPr id="10" name="Content-Placeholder-9-10">
            <a:extLst>
              <a:ext uri="{FF2B5EF4-FFF2-40B4-BE49-F238E27FC236}">
                <a16:creationId xmlns:a16="http://schemas.microsoft.com/office/drawing/2014/main" id="{D3B9D4AC-DD1A-440B-BDB1-BE79F282F081}"/>
              </a:ext>
            </a:extLst>
          </p:cNvPr>
          <p:cNvSpPr>
            <a:spLocks noGrp="1"/>
          </p:cNvSpPr>
          <p:nvPr/>
        </p:nvSpPr>
        <p:spPr>
          <a:xfrm>
            <a:off x="5529209" y="2603369"/>
            <a:ext cx="2940082" cy="1359313"/>
          </a:xfrm>
          <a:prstGeom prst="rect">
            <a:avLst/>
          </a:prstGeom>
        </p:spPr>
        <p:txBody>
          <a:bodyPr lIns="0" tIns="0" rIns="0" bIns="0" anchor="b">
            <a:normAutofit/>
          </a:bodyPr>
          <a:lstStyle/>
          <a:p>
            <a:pPr algn="l">
              <a:defRPr sz="2400">
                <a:solidFill>
                  <a:srgbClr val="000000"/>
                </a:solidFill>
                <a:latin typeface="Helvetica Neue"/>
                <a:ea typeface="Helvetica Neue"/>
                <a:cs typeface="Helvetica Neue"/>
              </a:defRPr>
            </a:pPr>
            <a:r>
              <a:rPr dirty="0"/>
              <a:t>Diseases</a:t>
            </a:r>
          </a:p>
        </p:txBody>
      </p:sp>
      <p:sp>
        <p:nvSpPr>
          <p:cNvPr id="11" name="Content-Placeholder-9-11">
            <a:extLst>
              <a:ext uri="{FF2B5EF4-FFF2-40B4-BE49-F238E27FC236}">
                <a16:creationId xmlns:a16="http://schemas.microsoft.com/office/drawing/2014/main" id="{156C5E52-C211-4EA2-A0DA-66849500075E}"/>
              </a:ext>
            </a:extLst>
          </p:cNvPr>
          <p:cNvSpPr>
            <a:spLocks noGrp="1"/>
          </p:cNvSpPr>
          <p:nvPr/>
        </p:nvSpPr>
        <p:spPr>
          <a:xfrm>
            <a:off x="9000969" y="2450264"/>
            <a:ext cx="2940082" cy="1359313"/>
          </a:xfrm>
          <a:prstGeom prst="rect">
            <a:avLst/>
          </a:prstGeom>
        </p:spPr>
        <p:txBody>
          <a:bodyPr lIns="0" tIns="0" rIns="0" bIns="0" anchor="b">
            <a:normAutofit/>
          </a:bodyPr>
          <a:lstStyle/>
          <a:p>
            <a:pPr algn="l">
              <a:defRPr sz="2400">
                <a:solidFill>
                  <a:srgbClr val="000000"/>
                </a:solidFill>
                <a:latin typeface="Helvetica Neue"/>
                <a:ea typeface="Helvetica Neue"/>
                <a:cs typeface="Helvetica Neue"/>
              </a:defRPr>
            </a:pPr>
            <a:r>
              <a:rPr dirty="0"/>
              <a:t>Fertilizers</a:t>
            </a:r>
          </a:p>
        </p:txBody>
      </p:sp>
      <p:sp>
        <p:nvSpPr>
          <p:cNvPr id="12" name="Content-Placeholder-15-12">
            <a:extLst>
              <a:ext uri="{FF2B5EF4-FFF2-40B4-BE49-F238E27FC236}">
                <a16:creationId xmlns:a16="http://schemas.microsoft.com/office/drawing/2014/main" id="{2E893276-DEE8-4D33-9286-52F41DBBB50E}"/>
              </a:ext>
            </a:extLst>
          </p:cNvPr>
          <p:cNvSpPr>
            <a:spLocks noGrp="1"/>
          </p:cNvSpPr>
          <p:nvPr/>
        </p:nvSpPr>
        <p:spPr>
          <a:xfrm>
            <a:off x="1518371" y="1198145"/>
            <a:ext cx="9639759" cy="1599438"/>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endParaRPr dirty="0"/>
          </a:p>
          <a:p>
            <a:pPr algn="l">
              <a:defRPr sz="1600">
                <a:solidFill>
                  <a:srgbClr val="000000"/>
                </a:solidFill>
                <a:latin typeface="Helvetica Neue"/>
                <a:ea typeface="Helvetica Neue"/>
                <a:cs typeface="Helvetica Neue"/>
              </a:defRPr>
            </a:pPr>
            <a:r>
              <a:rPr sz="2400" dirty="0">
                <a:latin typeface="+mj-lt"/>
              </a:rPr>
              <a:t>Farm Assist is a web-based platform that organizes crop information, disease guidance, fertilizer recommendations, and cultivation techniques. It helps farmers search for reliable answers quickly and use them while planning or managing their farms.</a:t>
            </a:r>
          </a:p>
        </p:txBody>
      </p:sp>
      <p:sp>
        <p:nvSpPr>
          <p:cNvPr id="14" name="TextBox 13">
            <a:extLst>
              <a:ext uri="{FF2B5EF4-FFF2-40B4-BE49-F238E27FC236}">
                <a16:creationId xmlns:a16="http://schemas.microsoft.com/office/drawing/2014/main" id="{3BD7E3E6-B6AA-341C-9EE2-0EEE3D2D8B43}"/>
              </a:ext>
            </a:extLst>
          </p:cNvPr>
          <p:cNvSpPr txBox="1"/>
          <p:nvPr/>
        </p:nvSpPr>
        <p:spPr>
          <a:xfrm>
            <a:off x="4465185" y="640044"/>
            <a:ext cx="3415229" cy="646331"/>
          </a:xfrm>
          <a:prstGeom prst="rect">
            <a:avLst/>
          </a:prstGeom>
          <a:noFill/>
        </p:spPr>
        <p:txBody>
          <a:bodyPr wrap="square" rtlCol="0">
            <a:spAutoFit/>
          </a:bodyPr>
          <a:lstStyle/>
          <a:p>
            <a:r>
              <a:rPr lang="en-US" sz="3600" dirty="0">
                <a:latin typeface="Algerian" panose="04020705040A02060702" pitchFamily="82" charset="0"/>
              </a:rPr>
              <a:t>ABSTRACT</a:t>
            </a:r>
            <a:endParaRPr lang="en-IN" sz="3600" dirty="0">
              <a:latin typeface="Algerian" panose="04020705040A02060702" pitchFamily="82" charset="0"/>
            </a:endParaRPr>
          </a:p>
        </p:txBody>
      </p:sp>
    </p:spTree>
    <p:extLst>
      <p:ext uri="{BB962C8B-B14F-4D97-AF65-F5344CB8AC3E}">
        <p14:creationId xmlns:p14="http://schemas.microsoft.com/office/powerpoint/2010/main" val="452152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Shape-532-p58-2">
            <a:extLst>
              <a:ext uri="{FF2B5EF4-FFF2-40B4-BE49-F238E27FC236}">
                <a16:creationId xmlns:a16="http://schemas.microsoft.com/office/drawing/2014/main" id="{4AEFEC56-873D-430F-86FB-4FD821E6C060}"/>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3</a:t>
            </a:r>
          </a:p>
        </p:txBody>
      </p:sp>
      <p:sp>
        <p:nvSpPr>
          <p:cNvPr id="2" name="Google-Shape-533-p58-3">
            <a:extLst>
              <a:ext uri="{FF2B5EF4-FFF2-40B4-BE49-F238E27FC236}">
                <a16:creationId xmlns:a16="http://schemas.microsoft.com/office/drawing/2014/main" id="{0CC2037C-69A0-455C-A4BF-6A9BCE5AEA0F}"/>
              </a:ext>
            </a:extLst>
          </p:cNvPr>
          <p:cNvSpPr>
            <a:spLocks noGrp="1"/>
          </p:cNvSpPr>
          <p:nvPr/>
        </p:nvSpPr>
        <p:spPr>
          <a:xfrm>
            <a:off x="393668" y="344043"/>
            <a:ext cx="11404568" cy="1047464"/>
          </a:xfrm>
          <a:prstGeom prst="rect">
            <a:avLst/>
          </a:prstGeom>
        </p:spPr>
        <p:txBody>
          <a:bodyPr wrap="square" lIns="0" tIns="0" rIns="0" bIns="0" anchor="t">
            <a:noAutofit/>
          </a:bodyPr>
          <a:lstStyle/>
          <a:p>
            <a:pPr algn="l">
              <a:defRPr sz="2900">
                <a:solidFill>
                  <a:srgbClr val="000000"/>
                </a:solidFill>
                <a:latin typeface="Helvetica Neue"/>
                <a:ea typeface="Helvetica Neue"/>
                <a:cs typeface="Helvetica Neue"/>
              </a:defRPr>
            </a:pPr>
            <a:endParaRPr dirty="0"/>
          </a:p>
        </p:txBody>
      </p:sp>
      <p:sp>
        <p:nvSpPr>
          <p:cNvPr id="3" name="Google-Shape-534-p58-4">
            <a:extLst>
              <a:ext uri="{FF2B5EF4-FFF2-40B4-BE49-F238E27FC236}">
                <a16:creationId xmlns:a16="http://schemas.microsoft.com/office/drawing/2014/main" id="{30C0C7CA-F47C-4F3B-A0A6-8E2EFB90E0F9}"/>
              </a:ext>
            </a:extLst>
          </p:cNvPr>
          <p:cNvSpPr>
            <a:spLocks noGrp="1"/>
          </p:cNvSpPr>
          <p:nvPr/>
        </p:nvSpPr>
        <p:spPr>
          <a:xfrm>
            <a:off x="3048733" y="668274"/>
            <a:ext cx="5537168" cy="865156"/>
          </a:xfrm>
          <a:prstGeom prst="rect">
            <a:avLst/>
          </a:prstGeom>
        </p:spPr>
        <p:txBody>
          <a:bodyPr wrap="square" lIns="0" tIns="0" rIns="0" bIns="0" anchor="t">
            <a:noAutofit/>
          </a:bodyPr>
          <a:lstStyle/>
          <a:p>
            <a:pPr algn="l">
              <a:defRPr sz="2400">
                <a:solidFill>
                  <a:srgbClr val="000000"/>
                </a:solidFill>
                <a:latin typeface="Helvetica Neue"/>
                <a:ea typeface="Helvetica Neue"/>
                <a:cs typeface="Helvetica Neue"/>
              </a:defRPr>
            </a:pPr>
            <a:r>
              <a:rPr sz="4000" dirty="0">
                <a:latin typeface="Algerian" panose="04020705040A02060702" pitchFamily="82" charset="0"/>
              </a:rPr>
              <a:t>PROBLEM STATEMENT</a:t>
            </a:r>
          </a:p>
        </p:txBody>
      </p:sp>
      <p:sp>
        <p:nvSpPr>
          <p:cNvPr id="6" name="TextBox-11-7">
            <a:extLst>
              <a:ext uri="{FF2B5EF4-FFF2-40B4-BE49-F238E27FC236}">
                <a16:creationId xmlns:a16="http://schemas.microsoft.com/office/drawing/2014/main" id="{882802AB-79A5-4944-B6A2-AE6D70581CD4}"/>
              </a:ext>
            </a:extLst>
          </p:cNvPr>
          <p:cNvSpPr>
            <a:spLocks noGrp="1"/>
          </p:cNvSpPr>
          <p:nvPr/>
        </p:nvSpPr>
        <p:spPr>
          <a:xfrm>
            <a:off x="1333041" y="1951672"/>
            <a:ext cx="9738911" cy="2954655"/>
          </a:xfrm>
          <a:prstGeom prst="rect">
            <a:avLst/>
          </a:prstGeom>
        </p:spPr>
        <p:txBody>
          <a:bodyPr wrap="square" lIns="0" tIns="0" rIns="0" bIns="0">
            <a:spAutoFit/>
          </a:bodyPr>
          <a:lstStyle/>
          <a:p>
            <a:pPr algn="l">
              <a:defRPr sz="1800">
                <a:solidFill>
                  <a:srgbClr val="000000"/>
                </a:solidFill>
                <a:latin typeface="Helvetica Neue"/>
                <a:ea typeface="Helvetica Neue"/>
                <a:cs typeface="Helvetica Neue"/>
              </a:defRPr>
            </a:pPr>
            <a:r>
              <a:rPr sz="3200" dirty="0">
                <a:latin typeface="+mj-lt"/>
              </a:rPr>
              <a:t>Agricultural information is often scattered across many sources, difficult to search, or unavailable when farmers need it. This can delay decisions about crop care, pests, diseases, and fertilizer use.</a:t>
            </a:r>
          </a:p>
          <a:p>
            <a:pPr algn="l">
              <a:defRPr sz="1800">
                <a:solidFill>
                  <a:srgbClr val="000000"/>
                </a:solidFill>
                <a:latin typeface="Helvetica Neue"/>
                <a:ea typeface="Helvetica Neue"/>
                <a:cs typeface="Helvetica Neue"/>
              </a:defRPr>
            </a:pPr>
            <a:r>
              <a:rPr sz="3200" dirty="0">
                <a:latin typeface="+mj-lt"/>
              </a:rPr>
              <a:t>Farm Assist brings essential knowledge together in a simple, searchable form.</a:t>
            </a:r>
          </a:p>
        </p:txBody>
      </p:sp>
    </p:spTree>
    <p:extLst>
      <p:ext uri="{BB962C8B-B14F-4D97-AF65-F5344CB8AC3E}">
        <p14:creationId xmlns:p14="http://schemas.microsoft.com/office/powerpoint/2010/main" val="2123355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Shape-532-p58-2">
            <a:extLst>
              <a:ext uri="{FF2B5EF4-FFF2-40B4-BE49-F238E27FC236}">
                <a16:creationId xmlns:a16="http://schemas.microsoft.com/office/drawing/2014/main" id="{771656B7-0CF6-4F22-8224-C1AF911E5261}"/>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4</a:t>
            </a:r>
          </a:p>
        </p:txBody>
      </p:sp>
      <p:sp>
        <p:nvSpPr>
          <p:cNvPr id="3" name="Google-Shape-558-p61-4">
            <a:extLst>
              <a:ext uri="{FF2B5EF4-FFF2-40B4-BE49-F238E27FC236}">
                <a16:creationId xmlns:a16="http://schemas.microsoft.com/office/drawing/2014/main" id="{533C90D6-DB33-45E7-A0F4-863BE73D37A9}"/>
              </a:ext>
            </a:extLst>
          </p:cNvPr>
          <p:cNvSpPr>
            <a:spLocks noGrp="1"/>
          </p:cNvSpPr>
          <p:nvPr/>
        </p:nvSpPr>
        <p:spPr>
          <a:xfrm>
            <a:off x="1029345" y="3127656"/>
            <a:ext cx="3568732" cy="1981200"/>
          </a:xfrm>
          <a:prstGeom prst="rect">
            <a:avLst/>
          </a:prstGeom>
        </p:spPr>
        <p:txBody>
          <a:bodyPr wrap="square" lIns="0" tIns="0" rIns="0" bIns="0" anchor="t">
            <a:noAutofit/>
          </a:bodyPr>
          <a:lstStyle/>
          <a:p>
            <a:pPr algn="l">
              <a:defRPr sz="2400">
                <a:solidFill>
                  <a:srgbClr val="000000"/>
                </a:solidFill>
                <a:latin typeface="Helvetica Neue"/>
                <a:ea typeface="Helvetica Neue"/>
                <a:cs typeface="Helvetica Neue"/>
              </a:defRPr>
            </a:pPr>
            <a:r>
              <a:rPr dirty="0"/>
              <a:t>Crop knowledge
• Crop profiles and growing conditions
• Season-wise cultivation steps</a:t>
            </a:r>
          </a:p>
        </p:txBody>
      </p:sp>
      <p:sp>
        <p:nvSpPr>
          <p:cNvPr id="4" name="Google-Shape-559-p61-5">
            <a:extLst>
              <a:ext uri="{FF2B5EF4-FFF2-40B4-BE49-F238E27FC236}">
                <a16:creationId xmlns:a16="http://schemas.microsoft.com/office/drawing/2014/main" id="{BA8E1575-D7FA-461F-863D-2E009C89E848}"/>
              </a:ext>
            </a:extLst>
          </p:cNvPr>
          <p:cNvSpPr>
            <a:spLocks noGrp="1"/>
          </p:cNvSpPr>
          <p:nvPr/>
        </p:nvSpPr>
        <p:spPr>
          <a:xfrm>
            <a:off x="4598077" y="3036613"/>
            <a:ext cx="3568732" cy="1981200"/>
          </a:xfrm>
          <a:prstGeom prst="rect">
            <a:avLst/>
          </a:prstGeom>
        </p:spPr>
        <p:txBody>
          <a:bodyPr wrap="square" lIns="0" tIns="0" rIns="0" bIns="0" anchor="t">
            <a:noAutofit/>
          </a:bodyPr>
          <a:lstStyle/>
          <a:p>
            <a:pPr algn="l">
              <a:defRPr sz="2400">
                <a:solidFill>
                  <a:srgbClr val="000000"/>
                </a:solidFill>
                <a:latin typeface="Helvetica Neue"/>
                <a:ea typeface="Helvetica Neue"/>
                <a:cs typeface="Helvetica Neue"/>
              </a:defRPr>
            </a:pPr>
            <a:r>
              <a:rPr dirty="0"/>
              <a:t>Disease support
• Search by crop or symptom
• Causes, prevention, and remedies</a:t>
            </a:r>
          </a:p>
        </p:txBody>
      </p:sp>
      <p:sp>
        <p:nvSpPr>
          <p:cNvPr id="5" name="Google-Shape-560-p61-6">
            <a:extLst>
              <a:ext uri="{FF2B5EF4-FFF2-40B4-BE49-F238E27FC236}">
                <a16:creationId xmlns:a16="http://schemas.microsoft.com/office/drawing/2014/main" id="{2F71A14D-B5C8-4A61-AFC3-2F227597356A}"/>
              </a:ext>
            </a:extLst>
          </p:cNvPr>
          <p:cNvSpPr>
            <a:spLocks noGrp="1"/>
          </p:cNvSpPr>
          <p:nvPr/>
        </p:nvSpPr>
        <p:spPr>
          <a:xfrm>
            <a:off x="8577177" y="3022569"/>
            <a:ext cx="3568732" cy="1981200"/>
          </a:xfrm>
          <a:prstGeom prst="rect">
            <a:avLst/>
          </a:prstGeom>
        </p:spPr>
        <p:txBody>
          <a:bodyPr wrap="square" lIns="0" tIns="0" rIns="0" bIns="0" anchor="t">
            <a:noAutofit/>
          </a:bodyPr>
          <a:lstStyle/>
          <a:p>
            <a:pPr algn="l">
              <a:defRPr sz="2400">
                <a:solidFill>
                  <a:srgbClr val="000000"/>
                </a:solidFill>
                <a:latin typeface="Helvetica Neue"/>
                <a:ea typeface="Helvetica Neue"/>
                <a:cs typeface="Helvetica Neue"/>
              </a:defRPr>
            </a:pPr>
            <a:r>
              <a:rPr dirty="0"/>
              <a:t>Fertilizer &amp; tips
• Fertilizer recommendations
• Best practices and simple search</a:t>
            </a:r>
          </a:p>
        </p:txBody>
      </p:sp>
      <p:sp>
        <p:nvSpPr>
          <p:cNvPr id="6" name="Google-Shape-561-p61-7">
            <a:extLst>
              <a:ext uri="{FF2B5EF4-FFF2-40B4-BE49-F238E27FC236}">
                <a16:creationId xmlns:a16="http://schemas.microsoft.com/office/drawing/2014/main" id="{B0816C95-34CC-49D6-B5BD-44159884924C}"/>
              </a:ext>
            </a:extLst>
          </p:cNvPr>
          <p:cNvSpPr>
            <a:spLocks noGrp="1"/>
          </p:cNvSpPr>
          <p:nvPr/>
        </p:nvSpPr>
        <p:spPr>
          <a:xfrm>
            <a:off x="4440295" y="2311428"/>
            <a:ext cx="315563" cy="353854"/>
          </a:xfrm>
          <a:custGeom>
            <a:avLst/>
            <a:gdLst/>
            <a:ahLst/>
            <a:cxnLst/>
            <a:rect l="0" t="0" r="0" b="0"/>
            <a:pathLst>
              <a:path w="192747900" h="191595375">
                <a:moveTo>
                  <a:pt x="107661075" y="24707850"/>
                </a:moveTo>
                <a:lnTo>
                  <a:pt x="20716875" y="114138075"/>
                </a:lnTo>
                <a:lnTo>
                  <a:pt x="86039325" y="114138075"/>
                </a:lnTo>
                <a:cubicBezTo>
                  <a:pt x="89192100" y="114138075"/>
                  <a:pt x="92182950" y="115423950"/>
                  <a:pt x="94135575" y="117614700"/>
                </a:cubicBezTo>
                <a:cubicBezTo>
                  <a:pt x="96097725" y="119814975"/>
                  <a:pt x="96821625" y="122682000"/>
                  <a:pt x="96097725" y="125406150"/>
                </a:cubicBezTo>
                <a:lnTo>
                  <a:pt x="85086825" y="166897050"/>
                </a:lnTo>
                <a:lnTo>
                  <a:pt x="172031025" y="77466825"/>
                </a:lnTo>
                <a:lnTo>
                  <a:pt x="106708575" y="77466825"/>
                </a:lnTo>
                <a:cubicBezTo>
                  <a:pt x="103555800" y="77466825"/>
                  <a:pt x="100564950" y="76190475"/>
                  <a:pt x="98612325" y="73990200"/>
                </a:cubicBezTo>
                <a:cubicBezTo>
                  <a:pt x="96650175" y="71789925"/>
                  <a:pt x="95926275" y="68922900"/>
                  <a:pt x="96650175" y="66198750"/>
                </a:cubicBezTo>
                <a:lnTo>
                  <a:pt x="107661075" y="24707850"/>
                </a:lnTo>
                <a:close/>
                <a:moveTo>
                  <a:pt x="98888550" y="5648325"/>
                </a:moveTo>
                <a:cubicBezTo>
                  <a:pt x="111242475" y="-7067550"/>
                  <a:pt x="134540625" y="3457575"/>
                  <a:pt x="130206750" y="19792950"/>
                </a:cubicBezTo>
                <a:lnTo>
                  <a:pt x="119767350" y="59131200"/>
                </a:lnTo>
                <a:lnTo>
                  <a:pt x="172031025" y="59131200"/>
                </a:lnTo>
                <a:cubicBezTo>
                  <a:pt x="189718950" y="59131200"/>
                  <a:pt x="199243950" y="77552550"/>
                  <a:pt x="187690125" y="89439750"/>
                </a:cubicBezTo>
                <a:lnTo>
                  <a:pt x="93859350" y="185956575"/>
                </a:lnTo>
                <a:cubicBezTo>
                  <a:pt x="81505425" y="198672450"/>
                  <a:pt x="58207275" y="188147325"/>
                  <a:pt x="62541150" y="171811950"/>
                </a:cubicBezTo>
                <a:lnTo>
                  <a:pt x="72980550" y="132473700"/>
                </a:lnTo>
                <a:lnTo>
                  <a:pt x="20716875" y="132473700"/>
                </a:lnTo>
                <a:cubicBezTo>
                  <a:pt x="3028950" y="132473700"/>
                  <a:pt x="-6496050" y="114052350"/>
                  <a:pt x="5057775" y="102165150"/>
                </a:cubicBezTo>
                <a:lnTo>
                  <a:pt x="98888550" y="5648325"/>
                </a:lnTo>
                <a:close/>
              </a:path>
            </a:pathLst>
          </a:custGeom>
          <a:solidFill>
            <a:srgbClr val="000000"/>
          </a:solidFill>
        </p:spPr>
      </p:sp>
      <p:sp>
        <p:nvSpPr>
          <p:cNvPr id="7" name="Google-Shape-562-p61-8">
            <a:extLst>
              <a:ext uri="{FF2B5EF4-FFF2-40B4-BE49-F238E27FC236}">
                <a16:creationId xmlns:a16="http://schemas.microsoft.com/office/drawing/2014/main" id="{530637F0-3F1E-4F04-99E2-178C8CE24525}"/>
              </a:ext>
            </a:extLst>
          </p:cNvPr>
          <p:cNvSpPr>
            <a:spLocks noGrp="1"/>
          </p:cNvSpPr>
          <p:nvPr/>
        </p:nvSpPr>
        <p:spPr>
          <a:xfrm>
            <a:off x="1029345" y="2343841"/>
            <a:ext cx="327089" cy="362045"/>
          </a:xfrm>
          <a:custGeom>
            <a:avLst/>
            <a:gdLst/>
            <a:ahLst/>
            <a:cxnLst/>
            <a:rect l="0" t="0" r="0" b="0"/>
            <a:pathLst>
              <a:path w="205740000" h="203196825">
                <a:moveTo>
                  <a:pt x="108194475" y="20288250"/>
                </a:moveTo>
                <a:cubicBezTo>
                  <a:pt x="104908350" y="18583275"/>
                  <a:pt x="100850700" y="18583275"/>
                  <a:pt x="97545525" y="20288250"/>
                </a:cubicBezTo>
                <a:lnTo>
                  <a:pt x="30956250" y="54597300"/>
                </a:lnTo>
                <a:lnTo>
                  <a:pt x="103031925" y="90773250"/>
                </a:lnTo>
                <a:lnTo>
                  <a:pt x="177098325" y="55778400"/>
                </a:lnTo>
                <a:lnTo>
                  <a:pt x="108194475" y="20288250"/>
                </a:lnTo>
                <a:close/>
                <a:moveTo>
                  <a:pt x="184442100" y="73809225"/>
                </a:moveTo>
                <a:lnTo>
                  <a:pt x="113518950" y="107318175"/>
                </a:lnTo>
                <a:lnTo>
                  <a:pt x="113518950" y="180174900"/>
                </a:lnTo>
                <a:lnTo>
                  <a:pt x="179117625" y="146370675"/>
                </a:lnTo>
                <a:cubicBezTo>
                  <a:pt x="182422800" y="144675225"/>
                  <a:pt x="184442100" y="141541500"/>
                  <a:pt x="184442100" y="138141075"/>
                </a:cubicBezTo>
                <a:lnTo>
                  <a:pt x="184442100" y="73809225"/>
                </a:lnTo>
                <a:close/>
                <a:moveTo>
                  <a:pt x="92221050" y="180174900"/>
                </a:moveTo>
                <a:lnTo>
                  <a:pt x="92221050" y="107156250"/>
                </a:lnTo>
                <a:lnTo>
                  <a:pt x="21297900" y="71561325"/>
                </a:lnTo>
                <a:lnTo>
                  <a:pt x="21297900" y="138141075"/>
                </a:lnTo>
                <a:cubicBezTo>
                  <a:pt x="21297900" y="141541500"/>
                  <a:pt x="23317200" y="144675225"/>
                  <a:pt x="26622375" y="146370675"/>
                </a:cubicBezTo>
                <a:lnTo>
                  <a:pt x="92221050" y="180174900"/>
                </a:lnTo>
                <a:close/>
                <a:moveTo>
                  <a:pt x="86896575" y="3819525"/>
                </a:moveTo>
                <a:cubicBezTo>
                  <a:pt x="96774000" y="-1266825"/>
                  <a:pt x="108966000" y="-1266825"/>
                  <a:pt x="118843425" y="3819525"/>
                </a:cubicBezTo>
                <a:lnTo>
                  <a:pt x="189766575" y="40366950"/>
                </a:lnTo>
                <a:cubicBezTo>
                  <a:pt x="199663050" y="45462825"/>
                  <a:pt x="205740000" y="54873525"/>
                  <a:pt x="205740000" y="65055750"/>
                </a:cubicBezTo>
                <a:lnTo>
                  <a:pt x="205740000" y="138141075"/>
                </a:lnTo>
                <a:cubicBezTo>
                  <a:pt x="205740000" y="148323300"/>
                  <a:pt x="199663050" y="157743525"/>
                  <a:pt x="189766575" y="162839400"/>
                </a:cubicBezTo>
                <a:lnTo>
                  <a:pt x="118843425" y="199377300"/>
                </a:lnTo>
                <a:cubicBezTo>
                  <a:pt x="108966000" y="204473175"/>
                  <a:pt x="96774000" y="204473175"/>
                  <a:pt x="86896575" y="199377300"/>
                </a:cubicBezTo>
                <a:lnTo>
                  <a:pt x="15973425" y="162839400"/>
                </a:lnTo>
                <a:cubicBezTo>
                  <a:pt x="6096000" y="157743525"/>
                  <a:pt x="0" y="148323300"/>
                  <a:pt x="0" y="138141075"/>
                </a:cubicBezTo>
                <a:lnTo>
                  <a:pt x="0" y="65055750"/>
                </a:lnTo>
                <a:cubicBezTo>
                  <a:pt x="0" y="54873525"/>
                  <a:pt x="6096000" y="45462825"/>
                  <a:pt x="15973425" y="40366950"/>
                </a:cubicBezTo>
                <a:lnTo>
                  <a:pt x="86896575" y="3819525"/>
                </a:lnTo>
                <a:close/>
              </a:path>
            </a:pathLst>
          </a:custGeom>
          <a:solidFill>
            <a:srgbClr val="000000"/>
          </a:solidFill>
        </p:spPr>
      </p:sp>
      <p:sp>
        <p:nvSpPr>
          <p:cNvPr id="8" name="Google-Shape-563-p61-9">
            <a:extLst>
              <a:ext uri="{FF2B5EF4-FFF2-40B4-BE49-F238E27FC236}">
                <a16:creationId xmlns:a16="http://schemas.microsoft.com/office/drawing/2014/main" id="{40E8D175-CB26-4D7E-9042-4333367BDAEF}"/>
              </a:ext>
            </a:extLst>
          </p:cNvPr>
          <p:cNvSpPr>
            <a:spLocks noGrp="1"/>
          </p:cNvSpPr>
          <p:nvPr/>
        </p:nvSpPr>
        <p:spPr>
          <a:xfrm>
            <a:off x="8577177" y="2397014"/>
            <a:ext cx="338614" cy="270891"/>
          </a:xfrm>
          <a:custGeom>
            <a:avLst/>
            <a:gdLst/>
            <a:ahLst/>
            <a:cxnLst/>
            <a:rect l="0" t="0" r="0" b="0"/>
            <a:pathLst>
              <a:path w="205740000" h="205740000">
                <a:moveTo>
                  <a:pt x="59245500" y="0"/>
                </a:moveTo>
                <a:lnTo>
                  <a:pt x="146494500" y="0"/>
                </a:lnTo>
                <a:cubicBezTo>
                  <a:pt x="154781250" y="0"/>
                  <a:pt x="161620200" y="0"/>
                  <a:pt x="167182800" y="561975"/>
                </a:cubicBezTo>
                <a:cubicBezTo>
                  <a:pt x="172964475" y="1162050"/>
                  <a:pt x="178279425" y="2428875"/>
                  <a:pt x="183270525" y="5610225"/>
                </a:cubicBezTo>
                <a:cubicBezTo>
                  <a:pt x="191023875" y="10534650"/>
                  <a:pt x="197310375" y="18402300"/>
                  <a:pt x="201253725" y="28079700"/>
                </a:cubicBezTo>
                <a:cubicBezTo>
                  <a:pt x="203796900" y="34318575"/>
                  <a:pt x="204816075" y="40967025"/>
                  <a:pt x="205282800" y="48196500"/>
                </a:cubicBezTo>
                <a:cubicBezTo>
                  <a:pt x="205740000" y="55149750"/>
                  <a:pt x="205740000" y="63703200"/>
                  <a:pt x="205740000" y="74056875"/>
                </a:cubicBezTo>
                <a:lnTo>
                  <a:pt x="205740000" y="131683125"/>
                </a:lnTo>
                <a:cubicBezTo>
                  <a:pt x="205740000" y="142036800"/>
                  <a:pt x="205740000" y="150590250"/>
                  <a:pt x="205282800" y="157543500"/>
                </a:cubicBezTo>
                <a:cubicBezTo>
                  <a:pt x="204816075" y="164772975"/>
                  <a:pt x="203796900" y="171421425"/>
                  <a:pt x="201253725" y="177660300"/>
                </a:cubicBezTo>
                <a:cubicBezTo>
                  <a:pt x="197310375" y="187337700"/>
                  <a:pt x="191023875" y="195205350"/>
                  <a:pt x="183270525" y="200129775"/>
                </a:cubicBezTo>
                <a:cubicBezTo>
                  <a:pt x="178279425" y="203311125"/>
                  <a:pt x="172964475" y="204577950"/>
                  <a:pt x="167182800" y="205178025"/>
                </a:cubicBezTo>
                <a:cubicBezTo>
                  <a:pt x="161620200" y="205740000"/>
                  <a:pt x="154781250" y="205740000"/>
                  <a:pt x="146494500" y="205740000"/>
                </a:cubicBezTo>
                <a:lnTo>
                  <a:pt x="59245500" y="205740000"/>
                </a:lnTo>
                <a:cubicBezTo>
                  <a:pt x="50958750" y="205740000"/>
                  <a:pt x="44119800" y="205740000"/>
                  <a:pt x="38557200" y="205178025"/>
                </a:cubicBezTo>
                <a:cubicBezTo>
                  <a:pt x="32775525" y="204577950"/>
                  <a:pt x="27460575" y="203311125"/>
                  <a:pt x="22469475" y="200129775"/>
                </a:cubicBezTo>
                <a:cubicBezTo>
                  <a:pt x="14716125" y="195205350"/>
                  <a:pt x="8429625" y="187337700"/>
                  <a:pt x="4486275" y="177660300"/>
                </a:cubicBezTo>
                <a:cubicBezTo>
                  <a:pt x="1943100" y="171421425"/>
                  <a:pt x="923925" y="164772975"/>
                  <a:pt x="457200" y="157543500"/>
                </a:cubicBezTo>
                <a:cubicBezTo>
                  <a:pt x="0" y="150590250"/>
                  <a:pt x="0" y="142036800"/>
                  <a:pt x="0" y="131683125"/>
                </a:cubicBezTo>
                <a:lnTo>
                  <a:pt x="0" y="74056875"/>
                </a:lnTo>
                <a:cubicBezTo>
                  <a:pt x="0" y="63703200"/>
                  <a:pt x="0" y="55149750"/>
                  <a:pt x="457200" y="48196500"/>
                </a:cubicBezTo>
                <a:cubicBezTo>
                  <a:pt x="923925" y="40967025"/>
                  <a:pt x="1943100" y="34318575"/>
                  <a:pt x="4486275" y="28079700"/>
                </a:cubicBezTo>
                <a:cubicBezTo>
                  <a:pt x="8429625" y="18402300"/>
                  <a:pt x="14716125" y="10534650"/>
                  <a:pt x="22469475" y="5610225"/>
                </a:cubicBezTo>
                <a:cubicBezTo>
                  <a:pt x="27460575" y="2428875"/>
                  <a:pt x="32775525" y="1162050"/>
                  <a:pt x="38557200" y="561975"/>
                </a:cubicBezTo>
                <a:cubicBezTo>
                  <a:pt x="44119800" y="0"/>
                  <a:pt x="50958750" y="0"/>
                  <a:pt x="59245500" y="0"/>
                </a:cubicBezTo>
                <a:close/>
                <a:moveTo>
                  <a:pt x="20574000" y="90011250"/>
                </a:moveTo>
                <a:lnTo>
                  <a:pt x="20574000" y="131159250"/>
                </a:lnTo>
                <a:cubicBezTo>
                  <a:pt x="20574000" y="142179675"/>
                  <a:pt x="20583525" y="149666325"/>
                  <a:pt x="20964525" y="155448000"/>
                </a:cubicBezTo>
                <a:cubicBezTo>
                  <a:pt x="21326475" y="161077275"/>
                  <a:pt x="21993225" y="163972875"/>
                  <a:pt x="22812375" y="165982650"/>
                </a:cubicBezTo>
                <a:cubicBezTo>
                  <a:pt x="24793575" y="170811825"/>
                  <a:pt x="27936825" y="174755175"/>
                  <a:pt x="31803975" y="177222150"/>
                </a:cubicBezTo>
                <a:cubicBezTo>
                  <a:pt x="33413700" y="178250850"/>
                  <a:pt x="35728275" y="179079525"/>
                  <a:pt x="40233600" y="179536725"/>
                </a:cubicBezTo>
                <a:cubicBezTo>
                  <a:pt x="44862750" y="180012975"/>
                  <a:pt x="50844450" y="180022500"/>
                  <a:pt x="59664600" y="180022500"/>
                </a:cubicBezTo>
                <a:lnTo>
                  <a:pt x="146075400" y="180022500"/>
                </a:lnTo>
                <a:cubicBezTo>
                  <a:pt x="154895550" y="180022500"/>
                  <a:pt x="160877250" y="180012975"/>
                  <a:pt x="165506400" y="179536725"/>
                </a:cubicBezTo>
                <a:cubicBezTo>
                  <a:pt x="170011725" y="179079525"/>
                  <a:pt x="172326300" y="178250850"/>
                  <a:pt x="173936025" y="177222150"/>
                </a:cubicBezTo>
                <a:cubicBezTo>
                  <a:pt x="177803175" y="174755175"/>
                  <a:pt x="180946425" y="170811825"/>
                  <a:pt x="182927625" y="165982650"/>
                </a:cubicBezTo>
                <a:cubicBezTo>
                  <a:pt x="183746775" y="163972875"/>
                  <a:pt x="184413525" y="161077275"/>
                  <a:pt x="184775475" y="155448000"/>
                </a:cubicBezTo>
                <a:cubicBezTo>
                  <a:pt x="185156475" y="149666325"/>
                  <a:pt x="185166000" y="142179675"/>
                  <a:pt x="185166000" y="131159250"/>
                </a:cubicBezTo>
                <a:lnTo>
                  <a:pt x="185166000" y="90011250"/>
                </a:lnTo>
                <a:lnTo>
                  <a:pt x="20574000" y="90011250"/>
                </a:lnTo>
                <a:close/>
                <a:moveTo>
                  <a:pt x="185146950" y="64293750"/>
                </a:moveTo>
                <a:cubicBezTo>
                  <a:pt x="185118375" y="58559700"/>
                  <a:pt x="185023125" y="54073425"/>
                  <a:pt x="184775475" y="50292000"/>
                </a:cubicBezTo>
                <a:cubicBezTo>
                  <a:pt x="184413525" y="44662725"/>
                  <a:pt x="183746775" y="41767125"/>
                  <a:pt x="182927625" y="39757350"/>
                </a:cubicBezTo>
                <a:cubicBezTo>
                  <a:pt x="180946425" y="34928175"/>
                  <a:pt x="177803175" y="30994350"/>
                  <a:pt x="173936025" y="28517850"/>
                </a:cubicBezTo>
                <a:cubicBezTo>
                  <a:pt x="172326300" y="27489150"/>
                  <a:pt x="170011725" y="26660475"/>
                  <a:pt x="165506400" y="26203275"/>
                </a:cubicBezTo>
                <a:cubicBezTo>
                  <a:pt x="160877250" y="25727025"/>
                  <a:pt x="154895550" y="25717500"/>
                  <a:pt x="146075400" y="25717500"/>
                </a:cubicBezTo>
                <a:lnTo>
                  <a:pt x="59664600" y="25717500"/>
                </a:lnTo>
                <a:cubicBezTo>
                  <a:pt x="50844450" y="25717500"/>
                  <a:pt x="44862750" y="25727025"/>
                  <a:pt x="40233600" y="26203275"/>
                </a:cubicBezTo>
                <a:cubicBezTo>
                  <a:pt x="35728275" y="26660475"/>
                  <a:pt x="33413700" y="27489150"/>
                  <a:pt x="31803975" y="28517850"/>
                </a:cubicBezTo>
                <a:cubicBezTo>
                  <a:pt x="27936825" y="30994350"/>
                  <a:pt x="24793575" y="34928175"/>
                  <a:pt x="22812375" y="39757350"/>
                </a:cubicBezTo>
                <a:cubicBezTo>
                  <a:pt x="21993225" y="41767125"/>
                  <a:pt x="21326475" y="44662725"/>
                  <a:pt x="20964525" y="50292000"/>
                </a:cubicBezTo>
                <a:cubicBezTo>
                  <a:pt x="20716875" y="54073425"/>
                  <a:pt x="20621625" y="58559700"/>
                  <a:pt x="20593050" y="64293750"/>
                </a:cubicBezTo>
                <a:lnTo>
                  <a:pt x="185146950" y="64293750"/>
                </a:lnTo>
                <a:close/>
                <a:moveTo>
                  <a:pt x="123444000" y="141446250"/>
                </a:moveTo>
                <a:cubicBezTo>
                  <a:pt x="123444000" y="134350125"/>
                  <a:pt x="128054100" y="128587500"/>
                  <a:pt x="133731000" y="128587500"/>
                </a:cubicBezTo>
                <a:lnTo>
                  <a:pt x="154305000" y="128587500"/>
                </a:lnTo>
                <a:cubicBezTo>
                  <a:pt x="159981900" y="128587500"/>
                  <a:pt x="164592000" y="134350125"/>
                  <a:pt x="164592000" y="141446250"/>
                </a:cubicBezTo>
                <a:cubicBezTo>
                  <a:pt x="164592000" y="148542375"/>
                  <a:pt x="159981900" y="154305000"/>
                  <a:pt x="154305000" y="154305000"/>
                </a:cubicBezTo>
                <a:lnTo>
                  <a:pt x="133731000" y="154305000"/>
                </a:lnTo>
                <a:cubicBezTo>
                  <a:pt x="128054100" y="154305000"/>
                  <a:pt x="123444000" y="148542375"/>
                  <a:pt x="123444000" y="141446250"/>
                </a:cubicBezTo>
                <a:close/>
              </a:path>
            </a:pathLst>
          </a:custGeom>
          <a:solidFill>
            <a:srgbClr val="000000"/>
          </a:solidFill>
        </p:spPr>
      </p:sp>
      <p:sp>
        <p:nvSpPr>
          <p:cNvPr id="10" name="TextBox 9">
            <a:extLst>
              <a:ext uri="{FF2B5EF4-FFF2-40B4-BE49-F238E27FC236}">
                <a16:creationId xmlns:a16="http://schemas.microsoft.com/office/drawing/2014/main" id="{A13B2563-5642-E740-5261-A4CFECAEC435}"/>
              </a:ext>
            </a:extLst>
          </p:cNvPr>
          <p:cNvSpPr txBox="1"/>
          <p:nvPr/>
        </p:nvSpPr>
        <p:spPr>
          <a:xfrm>
            <a:off x="2599980" y="672029"/>
            <a:ext cx="7205032" cy="707886"/>
          </a:xfrm>
          <a:prstGeom prst="rect">
            <a:avLst/>
          </a:prstGeom>
          <a:noFill/>
        </p:spPr>
        <p:txBody>
          <a:bodyPr wrap="square" rtlCol="0">
            <a:spAutoFit/>
          </a:bodyPr>
          <a:lstStyle/>
          <a:p>
            <a:r>
              <a:rPr lang="en-IN" sz="4000" dirty="0">
                <a:latin typeface="Algerian" panose="04020705040A02060702" pitchFamily="82" charset="0"/>
              </a:rPr>
              <a:t>Proposed Functionalities</a:t>
            </a:r>
          </a:p>
        </p:txBody>
      </p:sp>
    </p:spTree>
    <p:extLst>
      <p:ext uri="{BB962C8B-B14F-4D97-AF65-F5344CB8AC3E}">
        <p14:creationId xmlns:p14="http://schemas.microsoft.com/office/powerpoint/2010/main" val="633493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648743-93B5-1A07-D7AF-E5F0B611CBC1}"/>
              </a:ext>
            </a:extLst>
          </p:cNvPr>
          <p:cNvSpPr txBox="1"/>
          <p:nvPr/>
        </p:nvSpPr>
        <p:spPr>
          <a:xfrm>
            <a:off x="1877961" y="884903"/>
            <a:ext cx="6528620" cy="584775"/>
          </a:xfrm>
          <a:prstGeom prst="rect">
            <a:avLst/>
          </a:prstGeom>
          <a:noFill/>
        </p:spPr>
        <p:txBody>
          <a:bodyPr wrap="square" rtlCol="0">
            <a:spAutoFit/>
          </a:bodyPr>
          <a:lstStyle/>
          <a:p>
            <a:r>
              <a:rPr lang="en-IN" sz="3200" dirty="0"/>
              <a:t>Tools &amp; Technologies</a:t>
            </a:r>
          </a:p>
        </p:txBody>
      </p:sp>
      <p:sp>
        <p:nvSpPr>
          <p:cNvPr id="4" name="TextBox 3">
            <a:extLst>
              <a:ext uri="{FF2B5EF4-FFF2-40B4-BE49-F238E27FC236}">
                <a16:creationId xmlns:a16="http://schemas.microsoft.com/office/drawing/2014/main" id="{48590951-72EB-4BBF-3364-CD513B739DB7}"/>
              </a:ext>
            </a:extLst>
          </p:cNvPr>
          <p:cNvSpPr txBox="1"/>
          <p:nvPr/>
        </p:nvSpPr>
        <p:spPr>
          <a:xfrm>
            <a:off x="1877961" y="1753643"/>
            <a:ext cx="6115664" cy="3754874"/>
          </a:xfrm>
          <a:prstGeom prst="rect">
            <a:avLst/>
          </a:prstGeom>
          <a:noFill/>
        </p:spPr>
        <p:txBody>
          <a:bodyPr wrap="square">
            <a:spAutoFit/>
          </a:bodyPr>
          <a:lstStyle/>
          <a:p>
            <a:pPr>
              <a:buNone/>
            </a:pPr>
            <a:r>
              <a:rPr lang="en-IN" sz="2000" b="1" dirty="0"/>
              <a:t>Tools</a:t>
            </a:r>
          </a:p>
          <a:p>
            <a:pPr marL="342900" lvl="0" indent="-342900">
              <a:buFont typeface="Arial" panose="020B0604020202020204" pitchFamily="34" charset="0"/>
              <a:buChar char="•"/>
            </a:pPr>
            <a:r>
              <a:rPr lang="en-IN" sz="2000" dirty="0"/>
              <a:t>Java </a:t>
            </a:r>
          </a:p>
          <a:p>
            <a:pPr marL="342900" lvl="0" indent="-342900">
              <a:buFont typeface="Arial" panose="020B0604020202020204" pitchFamily="34" charset="0"/>
              <a:buChar char="•"/>
            </a:pPr>
            <a:r>
              <a:rPr lang="en-IN" sz="2000" dirty="0"/>
              <a:t>IntelliJ IDEA / Eclipse / VS Code </a:t>
            </a:r>
          </a:p>
          <a:p>
            <a:pPr marL="342900" lvl="0" indent="-342900">
              <a:buFont typeface="Arial" panose="020B0604020202020204" pitchFamily="34" charset="0"/>
              <a:buChar char="•"/>
            </a:pPr>
            <a:r>
              <a:rPr lang="en-IN" sz="2000" dirty="0"/>
              <a:t>Git &amp; GitHub (Optional) </a:t>
            </a:r>
          </a:p>
          <a:p>
            <a:pPr>
              <a:buNone/>
            </a:pPr>
            <a:r>
              <a:rPr lang="en-IN" sz="2000" b="1" dirty="0"/>
              <a:t>Technologies</a:t>
            </a:r>
          </a:p>
          <a:p>
            <a:pPr marL="342900" lvl="0" indent="-342900">
              <a:buFont typeface="Arial" panose="020B0604020202020204" pitchFamily="34" charset="0"/>
              <a:buChar char="•"/>
            </a:pPr>
            <a:r>
              <a:rPr lang="en-IN" sz="2000" dirty="0"/>
              <a:t>Core Java </a:t>
            </a:r>
          </a:p>
          <a:p>
            <a:pPr marL="342900" lvl="0" indent="-342900">
              <a:buFont typeface="Arial" panose="020B0604020202020204" pitchFamily="34" charset="0"/>
              <a:buChar char="•"/>
            </a:pPr>
            <a:r>
              <a:rPr lang="en-IN" sz="2000" dirty="0"/>
              <a:t>Object-Oriented Programming (OOP) </a:t>
            </a:r>
          </a:p>
          <a:p>
            <a:pPr marL="342900" lvl="0" indent="-342900">
              <a:buFont typeface="Arial" panose="020B0604020202020204" pitchFamily="34" charset="0"/>
              <a:buChar char="•"/>
            </a:pPr>
            <a:r>
              <a:rPr lang="en-IN" sz="2000" dirty="0"/>
              <a:t>File Handling </a:t>
            </a:r>
          </a:p>
          <a:p>
            <a:pPr marL="342900" lvl="0" indent="-342900">
              <a:buFont typeface="Arial" panose="020B0604020202020204" pitchFamily="34" charset="0"/>
              <a:buChar char="•"/>
            </a:pPr>
            <a:r>
              <a:rPr lang="en-IN" sz="2000" dirty="0"/>
              <a:t>Collections (only if permitted by your faculty; if </a:t>
            </a:r>
            <a:r>
              <a:rPr lang="en-IN" sz="2000" dirty="0" err="1">
                <a:latin typeface="Courier New" panose="02070309020205020404" pitchFamily="49" charset="0"/>
              </a:rPr>
              <a:t>java.util</a:t>
            </a:r>
            <a:r>
              <a:rPr lang="en-IN" sz="2000" dirty="0"/>
              <a:t> is restricted, implement your own data structures) </a:t>
            </a:r>
          </a:p>
          <a:p>
            <a:pPr marL="342900" lvl="0" indent="-342900">
              <a:buFont typeface="Arial" panose="020B0604020202020204" pitchFamily="34" charset="0"/>
              <a:buChar char="•"/>
            </a:pPr>
            <a:r>
              <a:rPr lang="en-IN" sz="2000" dirty="0"/>
              <a:t>Exception Handling</a:t>
            </a:r>
          </a:p>
        </p:txBody>
      </p:sp>
    </p:spTree>
    <p:extLst>
      <p:ext uri="{BB962C8B-B14F-4D97-AF65-F5344CB8AC3E}">
        <p14:creationId xmlns:p14="http://schemas.microsoft.com/office/powerpoint/2010/main" val="2352743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E3DF50-A83F-F5F6-BFD7-2A9C00DE09A8}"/>
              </a:ext>
            </a:extLst>
          </p:cNvPr>
          <p:cNvSpPr txBox="1"/>
          <p:nvPr/>
        </p:nvSpPr>
        <p:spPr>
          <a:xfrm>
            <a:off x="3547432" y="714694"/>
            <a:ext cx="6433850" cy="707886"/>
          </a:xfrm>
          <a:prstGeom prst="rect">
            <a:avLst/>
          </a:prstGeom>
          <a:noFill/>
        </p:spPr>
        <p:txBody>
          <a:bodyPr wrap="square" rtlCol="0">
            <a:spAutoFit/>
          </a:bodyPr>
          <a:lstStyle/>
          <a:p>
            <a:r>
              <a:rPr lang="en-US" sz="4000" dirty="0">
                <a:latin typeface="Algerian" panose="04020705040A02060702" pitchFamily="82" charset="0"/>
              </a:rPr>
              <a:t>EXPECTED OUTCOMES</a:t>
            </a:r>
          </a:p>
        </p:txBody>
      </p:sp>
      <p:sp>
        <p:nvSpPr>
          <p:cNvPr id="6" name="TextBox 5">
            <a:extLst>
              <a:ext uri="{FF2B5EF4-FFF2-40B4-BE49-F238E27FC236}">
                <a16:creationId xmlns:a16="http://schemas.microsoft.com/office/drawing/2014/main" id="{683D7C71-1EA9-D701-4206-DFFD47DF7F65}"/>
              </a:ext>
            </a:extLst>
          </p:cNvPr>
          <p:cNvSpPr txBox="1"/>
          <p:nvPr/>
        </p:nvSpPr>
        <p:spPr>
          <a:xfrm>
            <a:off x="1288973" y="1938969"/>
            <a:ext cx="9749928" cy="3539430"/>
          </a:xfrm>
          <a:prstGeom prst="rect">
            <a:avLst/>
          </a:prstGeom>
          <a:noFill/>
        </p:spPr>
        <p:txBody>
          <a:bodyPr wrap="square" rtlCol="0">
            <a:spAutoFit/>
          </a:bodyPr>
          <a:lstStyle/>
          <a:p>
            <a:r>
              <a:rPr lang="en-US" sz="3200" dirty="0"/>
              <a:t>Farm Assist will provide farmers with a simple and reliable platform to access crop information, disease prevention methods, fertilizer recommendations, and cultivation techniques. It will help them make faster and better farming decisions, reduce dependence on scattered information sources, and improve awareness of proper crop management practices.</a:t>
            </a:r>
            <a:endParaRPr lang="en-IN" sz="3200" dirty="0"/>
          </a:p>
        </p:txBody>
      </p:sp>
    </p:spTree>
    <p:extLst>
      <p:ext uri="{BB962C8B-B14F-4D97-AF65-F5344CB8AC3E}">
        <p14:creationId xmlns:p14="http://schemas.microsoft.com/office/powerpoint/2010/main" val="130841902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40</TotalTime>
  <Words>297</Words>
  <Application>Microsoft Office PowerPoint</Application>
  <DocSecurity>0</DocSecurity>
  <PresentationFormat>Widescreen</PresentationFormat>
  <Paragraphs>37</Paragraphs>
  <Slides>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Algerian</vt:lpstr>
      <vt:lpstr>Arial</vt:lpstr>
      <vt:lpstr>Calibri</vt:lpstr>
      <vt:lpstr>Courier New</vt:lpstr>
      <vt:lpstr>Garamond</vt:lpstr>
      <vt:lpstr>Organic</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Siri Chandana Mundru</cp:lastModifiedBy>
  <cp:revision>3</cp:revision>
  <dcterms:created xsi:type="dcterms:W3CDTF">2026-07-30T14:42:52Z</dcterms:created>
  <dcterms:modified xsi:type="dcterms:W3CDTF">2026-07-31T05:08:02Z</dcterms:modified>
</cp:coreProperties>
</file>